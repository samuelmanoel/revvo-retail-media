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0"/>
            <a:ext cx="4114800" cy="6858000"/>
          </a:xfrm>
          <a:prstGeom prst="rect">
            <a:avLst/>
          </a:prstGeom>
          <a:solidFill>
            <a:srgbClr val="1A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5303520" cy="4114800"/>
          </a:xfrm>
          <a:prstGeom prst="rect">
            <a:avLst/>
          </a:prstGeom>
          <a:solidFill>
            <a:srgbClr val="1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REVVO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2286000" cy="64008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5CC86A"/>
                </a:solidFill>
                <a:latin typeface="Calibri"/>
              </a:rPr>
              <a:t>SMART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AA"/>
                </a:solidFill>
                <a:latin typeface="Calibri"/>
              </a:rPr>
              <a:t>Proposta Comercial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CC"/>
                </a:solidFill>
                <a:latin typeface="Calibri"/>
              </a:rPr>
              <a:t>Plataforma de Gestão de Terminais
de Consulta de Preços e Mídia em Lojas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291840"/>
            <a:ext cx="1371600" cy="36576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88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 que é o Revvo Smart Price?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C86A"/>
                </a:solidFill>
                <a:latin typeface="Calibri"/>
              </a:rPr>
              <a:t>VISÃO GERAL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6055"/>
                </a:solidFill>
                <a:latin typeface="Calibri"/>
              </a:rPr>
              <a:t>O Revvo Smart Price é uma plataforma completa para varejistas que desejam modernizar a experiência de consulta de preços e exibição de conteúdo em suas lojas físicas. Por meio de terminais inteligentes instalados nos pontos de venda, o sistema entrega preços em tempo real, campanhas de mídia agendadas e controle total da operação via painel web multi-empresa.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17520"/>
            <a:ext cx="260604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017520"/>
            <a:ext cx="2606040" cy="9144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154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21512"/>
                </a:solidFill>
                <a:latin typeface="Calibri"/>
              </a:rPr>
              <a:t>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Multi-Loja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14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55"/>
                </a:solidFill>
                <a:latin typeface="Calibri"/>
              </a:rPr>
              <a:t>Gerencie dezenas de
lojas e terminais
uma única plataforma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3017520"/>
            <a:ext cx="260604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3017520"/>
            <a:ext cx="2606040" cy="9144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3154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21512"/>
                </a:solidFill>
                <a:latin typeface="Calibri"/>
              </a:rPr>
              <a:t>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Tempo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114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55"/>
                </a:solidFill>
                <a:latin typeface="Calibri"/>
              </a:rPr>
              <a:t>Consulta de preços
e conteúdo sempre
atualizados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017520"/>
            <a:ext cx="260604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017520"/>
            <a:ext cx="2606040" cy="9144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154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21512"/>
                </a:solidFill>
                <a:latin typeface="Calibri"/>
              </a:rPr>
              <a:t>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Seguro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114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55"/>
                </a:solidFill>
                <a:latin typeface="Calibri"/>
              </a:rPr>
              <a:t>Autenticação JWT dupla
web e dispositivo
com revogação imediata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3017520"/>
            <a:ext cx="260604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3017520"/>
            <a:ext cx="2606040" cy="9144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3154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21512"/>
                </a:solidFill>
                <a:latin typeface="Calibr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Rastreável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4114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55"/>
                </a:solidFill>
                <a:latin typeface="Calibri"/>
              </a:rPr>
              <a:t>Heartbeat, eventos
e auditoria de
ativações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Os desafios do varejo físico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C86A"/>
                </a:solidFill>
                <a:latin typeface="Calibri"/>
              </a:rPr>
              <a:t>PROBLEMAS QUE O REVVO RESOLVE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828800" cy="36576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1C2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447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Calibri"/>
              </a:rPr>
              <a:t>❌  Etiquetas desatualizadas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1051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Preços no sistema diferem das etiquetas físicas, gerando conflitos no caixa e insatisfação.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11247120" cy="1005840"/>
          </a:xfrm>
          <a:prstGeom prst="rect">
            <a:avLst/>
          </a:prstGeom>
          <a:solidFill>
            <a:srgbClr val="1C2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Calibri"/>
              </a:rPr>
              <a:t>❌  Sem controle de terminais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5351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Dispositivos espalhados pela loja sem rastreamento de status, localização ou última atividade.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11247120" cy="1005840"/>
          </a:xfrm>
          <a:prstGeom prst="rect">
            <a:avLst/>
          </a:prstGeom>
          <a:solidFill>
            <a:srgbClr val="1C2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07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Calibri"/>
              </a:rPr>
              <a:t>❌  Mídia estática e manual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9651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Banners físicos ou TVs controladas manualmente sem agendamento ou personalização por loja.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00600"/>
            <a:ext cx="11247120" cy="1005840"/>
          </a:xfrm>
          <a:prstGeom prst="rect">
            <a:avLst/>
          </a:prstGeom>
          <a:solidFill>
            <a:srgbClr val="1C2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8737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Calibri"/>
              </a:rPr>
              <a:t>❌  Gestão descentralizada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3951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Múltiplas lojas exigem acessos diferentes sem visão consolidada para o gestor.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 solução Revvo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C86A"/>
                </a:solidFill>
                <a:latin typeface="Calibri"/>
              </a:rPr>
              <a:t>COMO FUNCIONA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4358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Cadastro no Painel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55"/>
                </a:solidFill>
                <a:latin typeface="Calibri"/>
              </a:rPr>
              <a:t>O gestor cria lojas, terminais e define licenças pelo painel web multi-empresa.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1783080"/>
            <a:ext cx="36576" cy="45720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249424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1284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494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Ativação do Dispositivo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05456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55"/>
                </a:solidFill>
                <a:latin typeface="Calibri"/>
              </a:rPr>
              <a:t>O terminal físico insere o código de ativação e recebe um token JWT de 30 dias automaticamente.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" y="2752344"/>
            <a:ext cx="36576" cy="45720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18688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18211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18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Consulta em Tempo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747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55"/>
                </a:solidFill>
                <a:latin typeface="Calibri"/>
              </a:rPr>
              <a:t>O cliente ou operador escaneia o produto — preço e informações aparecem instantaneamente na tela.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" y="3721608"/>
            <a:ext cx="36576" cy="45720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187952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15137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87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Conteúdo Agendado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43984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55"/>
                </a:solidFill>
                <a:latin typeface="Calibri"/>
              </a:rPr>
              <a:t>Mídias e campanhas são exibidas automaticamente conforme datas e horários configurados.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" y="4690872"/>
            <a:ext cx="36576" cy="45720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157216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1206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572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Monitoramento 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41324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55"/>
                </a:solidFill>
                <a:latin typeface="Calibri"/>
              </a:rPr>
              <a:t>O painel exibe heartbeat, status e histórico de todos os terminais em tempo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Funcionalidades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C86A"/>
                </a:solidFill>
                <a:latin typeface="Calibri"/>
              </a:rPr>
              <a:t>TUDO QUE O SISTEMA OFERECE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3657600" cy="137160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657600" cy="54864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6A"/>
                </a:solidFill>
                <a:latin typeface="Calibri"/>
              </a:rPr>
              <a:t>🏢 Gestão Multi-Empresa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BB"/>
                </a:solidFill>
                <a:latin typeface="Calibri"/>
              </a:rPr>
              <a:t>Isolamento total de dados por tenant com perfil Master global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280160"/>
            <a:ext cx="3657600" cy="137160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280160"/>
            <a:ext cx="3657600" cy="54864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39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6A"/>
                </a:solidFill>
                <a:latin typeface="Calibri"/>
              </a:rPr>
              <a:t>📱 Terminais Inteligentes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39" y="17830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BB"/>
                </a:solidFill>
                <a:latin typeface="Calibri"/>
              </a:rPr>
              <a:t>Suporte a price checker e media display no mesmo dispositivo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8" y="1280160"/>
            <a:ext cx="3657600" cy="137160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18" y="1280160"/>
            <a:ext cx="3657600" cy="54864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8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6A"/>
                </a:solidFill>
                <a:latin typeface="Calibri"/>
              </a:rPr>
              <a:t>🎫 Controle de Licenças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8" y="17830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BB"/>
                </a:solidFill>
                <a:latin typeface="Calibri"/>
              </a:rPr>
              <a:t>Slots por loja, renovação com auditoria e suspensão imediata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34640"/>
            <a:ext cx="3657600" cy="137160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834640"/>
            <a:ext cx="3657600" cy="54864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971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6A"/>
                </a:solidFill>
                <a:latin typeface="Calibri"/>
              </a:rPr>
              <a:t>🖼️ Biblioteca de Mídias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375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BB"/>
                </a:solidFill>
                <a:latin typeface="Calibri"/>
              </a:rPr>
              <a:t>Upload de imagens (5MB) e vídeos (50MB) com storage Supabase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2834640"/>
            <a:ext cx="3657600" cy="137160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79" y="2834640"/>
            <a:ext cx="3657600" cy="54864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39" y="2971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6A"/>
                </a:solidFill>
                <a:latin typeface="Calibri"/>
              </a:rPr>
              <a:t>📅 Agendamento de Conteúdo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39" y="33375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BB"/>
                </a:solidFill>
                <a:latin typeface="Calibri"/>
              </a:rPr>
              <a:t>Mídias com startsAt/endsAt — vigência calculada em tempo real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18" y="2834640"/>
            <a:ext cx="3657600" cy="137160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18" y="2834640"/>
            <a:ext cx="3657600" cy="54864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8" y="2971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6A"/>
                </a:solidFill>
                <a:latin typeface="Calibri"/>
              </a:rPr>
              <a:t>📦 Catálogo de Produtos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8" y="33375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BB"/>
                </a:solidFill>
                <a:latin typeface="Calibri"/>
              </a:rPr>
              <a:t>Upsert por EAN, preço normal, oferta e clube de fidelidade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389120"/>
            <a:ext cx="3657600" cy="137160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389120"/>
            <a:ext cx="3657600" cy="54864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526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6A"/>
                </a:solidFill>
                <a:latin typeface="Calibri"/>
              </a:rPr>
              <a:t>🔔 Notificações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8920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BB"/>
                </a:solidFill>
                <a:latin typeface="Calibri"/>
              </a:rPr>
              <a:t>Alertas por empresa com tipos info, warning, danger e success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79" y="4389120"/>
            <a:ext cx="3657600" cy="137160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79" y="4389120"/>
            <a:ext cx="3657600" cy="54864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39" y="4526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6A"/>
                </a:solidFill>
                <a:latin typeface="Calibri"/>
              </a:rPr>
              <a:t>⚡ Revogação Imediata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39" y="48920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BB"/>
                </a:solidFill>
                <a:latin typeface="Calibri"/>
              </a:rPr>
              <a:t>Invalida JWT do dispositivo no banco — bloqueio instantâneo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18" y="4389120"/>
            <a:ext cx="3657600" cy="137160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75318" y="4389120"/>
            <a:ext cx="3657600" cy="54864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78" y="4526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6A"/>
                </a:solidFill>
                <a:latin typeface="Calibri"/>
              </a:rPr>
              <a:t>📊 Heartbeat &amp; Eventos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78" y="48920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BB"/>
                </a:solidFill>
                <a:latin typeface="Calibri"/>
              </a:rPr>
              <a:t>Rastreamento de uptime e telemetria de cada terminal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Arquitetura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C86A"/>
                </a:solidFill>
                <a:latin typeface="Calibri"/>
              </a:rPr>
              <a:t>STACK E COMPONENTES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148840" cy="1737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Next.js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731520" cy="36576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ECC"/>
                </a:solidFill>
                <a:latin typeface="Calibri"/>
              </a:rPr>
              <a:t>App Router, Turbopack,
SSR + API Routes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234440"/>
            <a:ext cx="2148840" cy="1737360"/>
          </a:xfrm>
          <a:prstGeom prst="rect">
            <a:avLst/>
          </a:prstGeom>
          <a:solidFill>
            <a:srgbClr val="1A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Prisma ORM v7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828800"/>
            <a:ext cx="731520" cy="36576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9202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ECC"/>
                </a:solidFill>
                <a:latin typeface="Calibri"/>
              </a:rPr>
              <a:t>Type-safe, migrations
automáticas, pooler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234440"/>
            <a:ext cx="2148840" cy="1737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Supabase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1828800"/>
            <a:ext cx="731520" cy="36576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9202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ECC"/>
                </a:solidFill>
                <a:latin typeface="Calibri"/>
              </a:rPr>
              <a:t>PostgreSQL gerenciado
+ Storage de mídias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1234440"/>
            <a:ext cx="2148840" cy="1737360"/>
          </a:xfrm>
          <a:prstGeom prst="rect">
            <a:avLst/>
          </a:prstGeom>
          <a:solidFill>
            <a:srgbClr val="2E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Jose JWT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0" y="1828800"/>
            <a:ext cx="731520" cy="36576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19202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ECC"/>
                </a:solidFill>
                <a:latin typeface="Calibri"/>
              </a:rPr>
              <a:t>Tokens HS256
web (8h) + terminal (30d)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1234440"/>
            <a:ext cx="2148840" cy="173736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Vercel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9800" y="1828800"/>
            <a:ext cx="731520" cy="36576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19202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ECC"/>
                </a:solidFill>
                <a:latin typeface="Calibri"/>
              </a:rPr>
              <a:t>Deploy automático
Node.js 24, edge 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512"/>
                </a:solidFill>
                <a:latin typeface="Calibri"/>
              </a:rPr>
              <a:t>Fluxo de Dados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1188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840480"/>
            <a:ext cx="150876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977639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Painel Admin
(Browser)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57400" y="3840480"/>
            <a:ext cx="365760" cy="4572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4160520"/>
            <a:ext cx="36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56055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840480"/>
            <a:ext cx="150876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3977639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API Next.js
(Vercel)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3840480"/>
            <a:ext cx="365760" cy="4572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4160520"/>
            <a:ext cx="36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56055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3840480"/>
            <a:ext cx="150876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3977639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Supabase
PostgreSQL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3840480"/>
            <a:ext cx="365760" cy="4572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160520"/>
            <a:ext cx="36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56055"/>
                </a:solidFill>
                <a:latin typeface="Calibri"/>
              </a:rPr>
              <a:t>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3840480"/>
            <a:ext cx="150876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3977639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Supabase
Storage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212080"/>
            <a:ext cx="1508760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34924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Terminal Físico
(Dispositivo)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5212080"/>
            <a:ext cx="365760" cy="36576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0" y="5376672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055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5212080"/>
            <a:ext cx="1508760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06040" y="534924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Bearer JWT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5212080"/>
            <a:ext cx="365760" cy="36576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80" y="5376672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055"/>
                </a:solidFill>
                <a:latin typeface="Calibri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5212080"/>
            <a:ext cx="1508760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0600" y="534924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API Next.js
(Vercel)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Planos &amp; Licenciamento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C86A"/>
                </a:solidFill>
                <a:latin typeface="Calibri"/>
              </a:rPr>
              <a:t>FLEXÍVEL PARA O PORTE DA SUA OPERAÇÃO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566160" cy="5120640"/>
          </a:xfrm>
          <a:prstGeom prst="rect">
            <a:avLst/>
          </a:prstGeom>
          <a:solidFill>
            <a:srgbClr val="1C2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84831"/>
            <a:ext cx="1097280" cy="4572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C86A"/>
                </a:solidFill>
                <a:latin typeface="Calibri"/>
              </a:rPr>
              <a:t>Até 5 terminais
por loja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  <a:latin typeface="Calibri"/>
              </a:rPr>
              <a:t>✓  1 empresa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729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  <a:latin typeface="Calibri"/>
              </a:rPr>
              <a:t>✓  1 loja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570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  <a:latin typeface="Calibri"/>
              </a:rPr>
              <a:t>✓  Suporte por e-mail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410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  <a:latin typeface="Calibri"/>
              </a:rPr>
              <a:t>✓  Painel web incluso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251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  <a:latin typeface="Calibri"/>
              </a:rPr>
              <a:t>✓  Mídias: imagem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280160"/>
            <a:ext cx="3566160" cy="5120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280160"/>
            <a:ext cx="3566160" cy="41148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29844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1512"/>
                </a:solidFill>
                <a:latin typeface="Calibri"/>
              </a:rPr>
              <a:t>✦ MAIS POPULAR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828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359152"/>
            <a:ext cx="1097280" cy="4572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423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C86A"/>
                </a:solidFill>
                <a:latin typeface="Calibri"/>
              </a:rPr>
              <a:t>Até 20 terminais
por loja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063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  <a:latin typeface="Calibri"/>
              </a:rPr>
              <a:t>✓  Múltiplas lojas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447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  <a:latin typeface="Calibri"/>
              </a:rPr>
              <a:t>✓  Relatórios avançados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8313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  <a:latin typeface="Calibri"/>
              </a:rPr>
              <a:t>✓  Suporte prioritário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153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  <a:latin typeface="Calibri"/>
              </a:rPr>
              <a:t>✓  Mídias: imagem + vídeo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994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  <a:latin typeface="Calibri"/>
              </a:rPr>
              <a:t>✓  Integração ERP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1280160"/>
            <a:ext cx="3566160" cy="5120640"/>
          </a:xfrm>
          <a:prstGeom prst="rect">
            <a:avLst/>
          </a:prstGeom>
          <a:solidFill>
            <a:srgbClr val="1C2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2084831"/>
            <a:ext cx="1097280" cy="4572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2148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CC86A"/>
                </a:solidFill>
                <a:latin typeface="Calibri"/>
              </a:rPr>
              <a:t>Terminais ilimitados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788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  <a:latin typeface="Calibri"/>
              </a:rPr>
              <a:t>✓  Multi-empresa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1729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  <a:latin typeface="Calibri"/>
              </a:rPr>
              <a:t>✓  SLA garantido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5570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  <a:latin typeface="Calibri"/>
              </a:rPr>
              <a:t>✓  Suporte dedicado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9410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  <a:latin typeface="Calibri"/>
              </a:rPr>
              <a:t>✓  Campanhas avançadas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3251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CC"/>
                </a:solidFill>
                <a:latin typeface="Calibri"/>
              </a:rPr>
              <a:t>✓  API completa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77"/>
                </a:solidFill>
                <a:latin typeface="Calibri"/>
              </a:rPr>
              <a:t>* Licença por número de terminais ativos simultâneos. Slots liberados automaticamente ao revogar dispositivos.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21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64008" cy="685800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Por que escolher
o Revvo?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48840"/>
            <a:ext cx="1371600" cy="54864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AA"/>
                </a:solidFill>
                <a:latin typeface="Calibri"/>
              </a:rPr>
              <a:t>Diferenciais competitivos que fazem
a diferença no dia a dia da operação.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6A"/>
                </a:solidFill>
                <a:latin typeface="Calibri"/>
              </a:rPr>
              <a:t>Segurança por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8444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AA"/>
                </a:solidFill>
                <a:latin typeface="Calibri"/>
              </a:rPr>
              <a:t>Revogação instantânea de dispositivos, fail-closed no banco e isolamento total de dados por empresa.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6A"/>
                </a:solidFill>
                <a:latin typeface="Calibri"/>
              </a:rPr>
              <a:t>Resposta imediata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4456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AA"/>
                </a:solidFill>
                <a:latin typeface="Calibri"/>
              </a:rPr>
              <a:t>Preços e conteúdo consultados diretamente no banco — sem cache desatualizado ou latência de intermediários.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12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6A"/>
                </a:solidFill>
                <a:latin typeface="Calibri"/>
              </a:rPr>
              <a:t>Zero downtime na ativação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0468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AA"/>
                </a:solidFill>
                <a:latin typeface="Calibri"/>
              </a:rPr>
              <a:t>Novo terminal ativo em segundos com código de 8 dígitos, sem necessidade de configuração manual.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1280160"/>
            <a:ext cx="6400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54864" cy="118872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21512"/>
                </a:solidFill>
                <a:latin typeface="Calibri"/>
              </a:rPr>
              <a:t>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Conteúdo agendado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16916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55"/>
                </a:solidFill>
                <a:latin typeface="Calibri"/>
              </a:rPr>
              <a:t>Configure campanhas com datas de início e fim — o sistema ativa e desativa automaticamente sem intervenção.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2606040"/>
            <a:ext cx="6400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0" y="2606040"/>
            <a:ext cx="54864" cy="118872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21512"/>
                </a:solidFill>
                <a:latin typeface="Calibri"/>
              </a:rPr>
              <a:t>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697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Multi-loja nativo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0175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55"/>
                </a:solidFill>
                <a:latin typeface="Calibri"/>
              </a:rPr>
              <a:t>Gerencie centenas de lojas e terminais em uma única plataforma com visão consolidada.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3931920"/>
            <a:ext cx="6400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0" y="3931920"/>
            <a:ext cx="54864" cy="118872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21512"/>
                </a:solidFill>
                <a:latin typeface="Calibri"/>
              </a:rPr>
              <a:t>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023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Integração ERP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3434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55"/>
                </a:solidFill>
                <a:latin typeface="Calibri"/>
              </a:rPr>
              <a:t>Sincronize catálogo de produtos via API REST compatível com qualquer ERP do mercado.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5257800"/>
            <a:ext cx="6400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0" y="5257800"/>
            <a:ext cx="54864" cy="118872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21512"/>
                </a:solidFill>
                <a:latin typeface="Calibri"/>
              </a:rPr>
              <a:t>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5349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Escala com o negócio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56692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055"/>
                </a:solidFill>
                <a:latin typeface="Calibri"/>
              </a:rPr>
              <a:t>Arquitetura serverless na Vercel — cresce automaticamente com o volume de acessos.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Próximos Passos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C86A"/>
                </a:solidFill>
                <a:latin typeface="Calibri"/>
              </a:rPr>
              <a:t>COMO INICIAMOS JUNTOS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2148840" cy="502920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2148840" cy="64008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3443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6A"/>
                </a:solidFill>
                <a:latin typeface="Calibri"/>
              </a:rPr>
              <a:t>Reunião de Alinhamento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788920"/>
            <a:ext cx="731520" cy="36576"/>
          </a:xfrm>
          <a:prstGeom prst="rect">
            <a:avLst/>
          </a:prstGeom>
          <a:solidFill>
            <a:srgbClr val="44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187451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BB"/>
                </a:solidFill>
                <a:latin typeface="Calibri"/>
              </a:rPr>
              <a:t>Apresentamos o sistema em detalhe, entendemos o porte da operação e mapeamos as lojas e terminais necessários.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234440"/>
            <a:ext cx="2148840" cy="502920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1234440"/>
            <a:ext cx="2148840" cy="64008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137160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34433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1945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6A"/>
                </a:solidFill>
                <a:latin typeface="Calibri"/>
              </a:rPr>
              <a:t>Proposta Personalizada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788920"/>
            <a:ext cx="731520" cy="36576"/>
          </a:xfrm>
          <a:prstGeom prst="rect">
            <a:avLst/>
          </a:prstGeom>
          <a:solidFill>
            <a:srgbClr val="44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2880360"/>
            <a:ext cx="187451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BB"/>
                </a:solidFill>
                <a:latin typeface="Calibri"/>
              </a:rPr>
              <a:t>Com base no levantamento, entregamos proposta comercial com quantidade de licenças e prazo de implantação.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1234440"/>
            <a:ext cx="2148840" cy="502920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0" y="1234440"/>
            <a:ext cx="2148840" cy="64008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137160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34433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1945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6A"/>
                </a:solidFill>
                <a:latin typeface="Calibri"/>
              </a:rPr>
              <a:t>Implantação e Testes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2788920"/>
            <a:ext cx="731520" cy="36576"/>
          </a:xfrm>
          <a:prstGeom prst="rect">
            <a:avLst/>
          </a:prstGeom>
          <a:solidFill>
            <a:srgbClr val="44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57800" y="2880360"/>
            <a:ext cx="187451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BB"/>
                </a:solidFill>
                <a:latin typeface="Calibri"/>
              </a:rPr>
              <a:t>Configuramos o ambiente, importamos o catálogo de produtos e ativamos os primeiros terminais em loja piloto.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1234440"/>
            <a:ext cx="2148840" cy="502920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1234440"/>
            <a:ext cx="2148840" cy="64008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137160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34433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6A"/>
                </a:solidFill>
                <a:latin typeface="Calibri"/>
              </a:rPr>
              <a:t>Treinamento da Equipe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2788920"/>
            <a:ext cx="731520" cy="36576"/>
          </a:xfrm>
          <a:prstGeom prst="rect">
            <a:avLst/>
          </a:prstGeom>
          <a:solidFill>
            <a:srgbClr val="44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2880360"/>
            <a:ext cx="187451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BB"/>
                </a:solidFill>
                <a:latin typeface="Calibri"/>
              </a:rPr>
              <a:t>Capacitamos os gestores no painel web e os operadores no uso dos terminais físicos.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1234440"/>
            <a:ext cx="2148840" cy="502920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84080" y="1234440"/>
            <a:ext cx="2148840" cy="64008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1371600"/>
            <a:ext cx="2148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34433"/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21945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C86A"/>
                </a:solidFill>
                <a:latin typeface="Calibri"/>
              </a:rPr>
              <a:t>Go Live &amp; Suporte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21240" y="2788920"/>
            <a:ext cx="731520" cy="36576"/>
          </a:xfrm>
          <a:prstGeom prst="rect">
            <a:avLst/>
          </a:prstGeom>
          <a:solidFill>
            <a:srgbClr val="44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21240" y="2880360"/>
            <a:ext cx="187451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CCBB"/>
                </a:solidFill>
                <a:latin typeface="Calibri"/>
              </a:rPr>
              <a:t>Lançamento oficial com acompanhamento próximo e suporte dedicado nas primeiras semanas.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1097280"/>
            <a:ext cx="3959352" cy="393192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223022"/>
                </a:solidFill>
                <a:latin typeface="Calibri"/>
              </a:rPr>
              <a:t>REVVO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Pronto para transformar
suа operação?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200400"/>
            <a:ext cx="2130552" cy="54864"/>
          </a:xfrm>
          <a:prstGeom prst="rect">
            <a:avLst/>
          </a:prstGeom>
          <a:solidFill>
            <a:srgbClr val="5C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BBAA"/>
                </a:solidFill>
                <a:latin typeface="Calibri"/>
              </a:rPr>
              <a:t>Entre em contato e agende uma demonstração gratuita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114800"/>
            <a:ext cx="5788152" cy="7315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4133087"/>
            <a:ext cx="5788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🌐  revvo-smart-price-backend.vercel.app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30936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655"/>
                </a:solidFill>
                <a:latin typeface="Calibri"/>
              </a:rPr>
              <a:t>© 2026 Revvo Smart Price  •  Todos os direitos reservados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